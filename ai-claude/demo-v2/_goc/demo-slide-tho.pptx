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r>
              <a:rPr sz="2800" b="1"/>
              <a:t>Báo cáo</a:t>
            </a:r>
          </a:p>
        </p:txBody>
      </p:sp>
      <p:sp>
        <p:nvSpPr>
          <p:cNvPr id="3" name="TextBox 2"/>
          <p:cNvSpPr txBox="1"/>
          <p:nvPr/>
        </p:nvSpPr>
        <p:spPr>
          <a:xfrm>
            <a:off x="457200" y="1188720"/>
            <a:ext cx="11247120" cy="5303520"/>
          </a:xfrm>
          <a:prstGeom prst="rect">
            <a:avLst/>
          </a:prstGeom>
          <a:noFill/>
        </p:spPr>
        <p:txBody>
          <a:bodyPr wrap="square">
            <a:spAutoFit/>
          </a:bodyPr>
          <a:lstStyle/>
          <a:p>
            <a:r>
              <a:rPr sz="1400"/>
              <a:t>Kính thưa các anh chị, hôm nay tôi xin được phép trình bày báo cáo tổng kết dự án EMS quý 2 năm 2026, dự án này như các anh chị đã biết là dự án phần mềm quản lý điện năng mà công ty chúng ta đã triển khai cho khách hàng từ đầu năm và trong quý vừa qua thì đội dự án đã có rất nhiều cố gắng nỗ lực để hoàn thành các hạng mục công việc được giao, mặc dù trong quá trình thực hiện cũng gặp không ít khó khăn vướng mắc cả về mặt kỹ thuật lẫn về mặt phối hợp với khách hàng, tuy nhiên nhìn chung thì kết quả đạt được là tương đối khả quan và tôi sẽ trình bày chi tiết trong các phần tiếp theo của báo cáo này.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r>
              <a:rPr sz="2800" b="1"/>
              <a:t>Tình hình chung</a:t>
            </a:r>
          </a:p>
        </p:txBody>
      </p:sp>
      <p:sp>
        <p:nvSpPr>
          <p:cNvPr id="3" name="TextBox 2"/>
          <p:cNvSpPr txBox="1"/>
          <p:nvPr/>
        </p:nvSpPr>
        <p:spPr>
          <a:xfrm>
            <a:off x="457200" y="1188720"/>
            <a:ext cx="11247120" cy="5303520"/>
          </a:xfrm>
          <a:prstGeom prst="rect">
            <a:avLst/>
          </a:prstGeom>
          <a:noFill/>
        </p:spPr>
        <p:txBody>
          <a:bodyPr wrap="square">
            <a:spAutoFit/>
          </a:bodyPr>
          <a:lstStyle/>
          <a:p>
            <a:r>
              <a:rPr sz="1400"/>
              <a:t>Về tình hình chung của dự án trong quý 2 thì đội dự án gồm 8 thành viên trong đó có 5 lập trình viên, 2 tester và 1 BA đã thực hiện tổng cộng 3 đợt release vào các ngày 15 tháng 4, 20 tháng 5 và 25 tháng 6, tổng số story point hoàn thành là 142 điểm đạt 89 phần trăm so với kế hoạch đề ra ban đầu là 160 điểm, số lỗi phát sinh trên môi trường production là 12 lỗi trong đó có 2 lỗi nghiêm trọng liên quan đến tính năng đồng bộ dữ liệu công tơ đã được xử lý trong vòng 48 giờ, khách hàng đánh giá mức độ hài lòng qua khảo sát quý là 4.2 trên 5 điểm, tăng nhẹ so với quý 1 là 3.9 điểm, tỷ lệ chậm tiến độ trung bình các sprint là 8 phần trăm.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r>
              <a:rPr sz="2800" b="1"/>
              <a:t>Kết quả</a:t>
            </a:r>
          </a:p>
        </p:txBody>
      </p:sp>
      <p:sp>
        <p:nvSpPr>
          <p:cNvPr id="3" name="TextBox 2"/>
          <p:cNvSpPr txBox="1"/>
          <p:nvPr/>
        </p:nvSpPr>
        <p:spPr>
          <a:xfrm>
            <a:off x="457200" y="1188720"/>
            <a:ext cx="11247120" cy="5303520"/>
          </a:xfrm>
          <a:prstGeom prst="rect">
            <a:avLst/>
          </a:prstGeom>
          <a:noFill/>
        </p:spPr>
        <p:txBody>
          <a:bodyPr wrap="square">
            <a:spAutoFit/>
          </a:bodyPr>
          <a:lstStyle/>
          <a:p>
            <a:r>
              <a:rPr sz="1400"/>
              <a:t>Về các kết quả đạt được thì trong quý 2 đội đã hoàn thành và đưa vào vận hành module hóa đơn điện tử kết nối với hệ thống của Tổng cục Thuế, module này đã xử lý thành công hơn 45 nghìn hóa đơn trong tháng đầu tiên vận hành với tỷ lệ lỗi dưới 0.5 phần trăm, ngoài ra đội cũng đã hoàn thành module báo cáo tổn thất điện năng theo yêu cầu bổ sung của khách hàng, tối ưu hiệu năng màn hình dashboard giúp thời gian tải trang giảm từ 8 giây xuống còn 2.5 giây, nâng cấp phiên bản cơ sở dữ liệu và di chuyển toàn bộ hệ thống sang hạ tầng cloud mới mà không gây gián đoạn dịch vụ, đồng thời đào tạo chuyển giao cho 35 cán bộ vận hành của khách hàng tại 3 chi nhánh.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r>
              <a:rPr sz="2800" b="1"/>
              <a:t>Khó khăn</a:t>
            </a:r>
          </a:p>
        </p:txBody>
      </p:sp>
      <p:sp>
        <p:nvSpPr>
          <p:cNvPr id="3" name="TextBox 2"/>
          <p:cNvSpPr txBox="1"/>
          <p:nvPr/>
        </p:nvSpPr>
        <p:spPr>
          <a:xfrm>
            <a:off x="457200" y="1188720"/>
            <a:ext cx="11247120" cy="5303520"/>
          </a:xfrm>
          <a:prstGeom prst="rect">
            <a:avLst/>
          </a:prstGeom>
          <a:noFill/>
        </p:spPr>
        <p:txBody>
          <a:bodyPr wrap="square">
            <a:spAutoFit/>
          </a:bodyPr>
          <a:lstStyle/>
          <a:p>
            <a:r>
              <a:rPr sz="1400"/>
              <a:t>Bên cạnh những kết quả đạt được thì dự án cũng gặp phải một số khó khăn vướng mắc cần được các cấp lãnh đạo quan tâm hỗ trợ, thứ nhất là việc khách hàng thay đổi yêu cầu nhiều lần trong quá trình phát triển đặc biệt là ở module báo cáo khiến đội phải làm lại giao diện 3 lần gây lãng phí khoảng 15 ngày công, thứ hai là nhân sự chủ chốt biến động khi 1 lập trình viên senior nghỉ việc vào giữa tháng 5 mà chưa tuyển được người thay thế khiến các thành viên còn lại phải gánh thêm việc, thứ ba là môi trường test của khách hàng thường xuyên không ổn định làm chậm tiến độ kiểm thử tích hợp, và cuối cùng là công nợ giai đoạn 2 khách hàng vẫn chưa thanh toán đúng hạn theo hợp đồng đã ký kết.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r>
              <a:rPr sz="2800" b="1"/>
              <a:t>Kế hoạch</a:t>
            </a:r>
          </a:p>
        </p:txBody>
      </p:sp>
      <p:sp>
        <p:nvSpPr>
          <p:cNvPr id="3" name="TextBox 2"/>
          <p:cNvSpPr txBox="1"/>
          <p:nvPr/>
        </p:nvSpPr>
        <p:spPr>
          <a:xfrm>
            <a:off x="457200" y="1188720"/>
            <a:ext cx="11247120" cy="5303520"/>
          </a:xfrm>
          <a:prstGeom prst="rect">
            <a:avLst/>
          </a:prstGeom>
          <a:noFill/>
        </p:spPr>
        <p:txBody>
          <a:bodyPr wrap="square">
            <a:spAutoFit/>
          </a:bodyPr>
          <a:lstStyle/>
          <a:p>
            <a:r>
              <a:rPr sz="1400"/>
              <a:t>Về kế hoạch quý 3 sắp tới thì đội dự án dự kiến sẽ tập trung vào các nội dung chính như sau, hoàn thành nốt 18 story point còn tồn của quý 2 trong 2 tuần đầu tháng 7, triển khai giai đoạn 2 của dự án với trọng tâm là phân hệ quản lý mất điện và ứng dụng mobile cho khách hàng dùng điện dự kiến release bản beta vào cuối tháng 8, tuyển bổ sung 2 lập trình viên trong đó có 1 senior để bù đắp nhân sự thiếu hụt, phối hợp với phòng kinh doanh đôn đốc thu hồi công nợ giai đoạn 2 trước ngày 15 tháng 8, tổ chức đánh giá lại quy trình tiếp nhận thay đổi yêu cầu với khách hàng để tránh tình trạng làm đi làm lại như quý vừa qua, mục tiêu tổng thể là đạt 170 story point trong quý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none">
            <a:spAutoFit/>
          </a:bodyPr>
          <a:lstStyle/>
          <a:p>
            <a:r>
              <a:rPr sz="2800" b="1"/>
              <a:t>Kết luận</a:t>
            </a:r>
          </a:p>
        </p:txBody>
      </p:sp>
      <p:sp>
        <p:nvSpPr>
          <p:cNvPr id="3" name="TextBox 2"/>
          <p:cNvSpPr txBox="1"/>
          <p:nvPr/>
        </p:nvSpPr>
        <p:spPr>
          <a:xfrm>
            <a:off x="457200" y="1188720"/>
            <a:ext cx="11247120" cy="5303520"/>
          </a:xfrm>
          <a:prstGeom prst="rect">
            <a:avLst/>
          </a:prstGeom>
          <a:noFill/>
        </p:spPr>
        <p:txBody>
          <a:bodyPr wrap="square">
            <a:spAutoFit/>
          </a:bodyPr>
          <a:lstStyle/>
          <a:p>
            <a:r>
              <a:rPr sz="1400"/>
              <a:t>Tóm lại qua những nội dung đã trình bày ở trên có thể thấy rằng dự án EMS trong quý 2 năm 2026 về cơ bản đã hoàn thành tốt các mục tiêu đề ra với khối lượng công việc đạt 89 phần trăm kế hoạch và mức độ hài lòng của khách hàng được cải thiện, tuy nhiên vẫn còn những tồn tại cần khắc phục đặc biệt là vấn đề nhân sự và quy trình quản lý thay đổi yêu cầu, đội dự án rất mong nhận được sự quan tâm chỉ đạo của ban lãnh đạo công ty đối với 2 đề xuất là phê duyệt tuyển bổ sung nhân sự và hỗ trợ làm việc với khách hàng về vấn đề công nợ, xin trân trọng cảm ơn các anh chị đã lắng nghe và rất mong nhận được các ý kiến đóng góp cho báo cáo.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